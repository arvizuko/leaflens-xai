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1005840" cy="54864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 Disease Detection Using Hyperspectral Imaging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Edge-AI for Grapevine and Tomato Disease Diagnosis with Multilingual Advisory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|  Grad-CAM  |  Hyperspectral band analysis  |  Raspberry Pi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plant-health analysis system that identifies plant diseases and examines subtle changes in leaf condition.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" y="202996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23160"/>
            <a:ext cx="22311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plant disease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Grapevine and tomato crops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6432" y="202996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56432" y="2423160"/>
            <a:ext cx="22311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highlights affected leaf regions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Wavelength-specific band analysis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profile per ROI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92024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45352" y="202996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2423160"/>
            <a:ext cx="22311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Prevention, remedies and tips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 and Marathi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result export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and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25272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diagnosis is hard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645920"/>
            <a:ext cx="3648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symptoms of different diseases look alike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agronomists are scarce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cameras average away narrow spectral changes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25272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black-box CNNs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645920"/>
            <a:ext cx="3648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without justification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right for the wrong reason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needs cloud or GPU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8138160" cy="1600200"/>
          </a:xfrm>
          <a:prstGeom prst="roundRect">
            <a:avLst>
              <a:gd name="adj" fmla="val 4571"/>
            </a:avLst>
          </a:prstGeom>
          <a:solidFill>
            <a:srgbClr val="E8F1D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" y="3081528"/>
            <a:ext cx="7808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474720"/>
            <a:ext cx="7808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where on the leaf and in which wavelengths the evidence lies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offline on low-cost hardware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grower’s language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502920" cy="50292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43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grapevine (4 classes) and tomato (10 classes) leaf diseases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502920" cy="50292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143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each decision with Grad-CAM heatmaps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286000"/>
            <a:ext cx="502920" cy="50292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a 401-band spectrum (380–780 nm) from RGB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2286000"/>
            <a:ext cx="502920" cy="50292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GUI with ROI selection, spectral graph and gain control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383280"/>
            <a:ext cx="502920" cy="50292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337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prevention, remedies and tips in three languages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3383280"/>
            <a:ext cx="502920" cy="50292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77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3337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results to Excel and run on a Raspberry Pi 5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1F4E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Camera / image file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73352" y="18288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874520" y="146304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E8F1DF"/>
          </a:solidFill>
          <a:ln w="15875">
            <a:solidFill>
              <a:srgbClr val="1F4E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0240" y="14630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18288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46120" y="146304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1F4E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14630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18288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17720" y="146304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E8F1DF"/>
          </a:solidFill>
          <a:ln w="15875">
            <a:solidFill>
              <a:srgbClr val="1F4E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4630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overlay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788152" y="18288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1F4E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14630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→ 401 bands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59752" y="18288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60920" y="146304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E8F1DF"/>
          </a:solidFill>
          <a:ln w="15875">
            <a:solidFill>
              <a:srgbClr val="1F4E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14630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Advice, Excel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01752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" y="312724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and edge GUI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" y="3520440"/>
            <a:ext cx="3648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with dual image viewports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Rubber-band ROI, live spectral graph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301752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28032" y="312724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hardware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828032" y="3520440"/>
            <a:ext cx="3648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5, Camera Module 3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K LED ring chamber, 7-inch touch panel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and Preprocessing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4,062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Grapevine images, 4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18,160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images, 10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70:15:15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test, seed 42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1887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pHash Hamming distance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56032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" y="267004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splits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063240"/>
            <a:ext cx="36484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colour subset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Grape: 2,843 / 609 / 610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Tomato: 12,712 / 2,724 / 2,724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random sampling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56032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28032" y="267004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28032" y="3063240"/>
            <a:ext cx="36484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Resize: 224×224 grape, 256×256 tomato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normalisation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rotation, shear, scale, colour jitter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 for imbalance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Model and Training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25272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645920"/>
            <a:ext cx="3648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transfer learning, about 4.0 M parameters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MBConv blocks with squeeze-and-excitation, SiLU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Heads: 4 outputs (grape), 10 outputs (tomato)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CPU, GPU and Raspberry Pi 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25272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645920"/>
            <a:ext cx="3648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weight decay 1e-4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annealing: 1e-3 down to 1e-5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32, up to 50 epochs, mixed precision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 at 1.0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grape at epoch 15, tomato at epoch 38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100% at stop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AI: Grad-CAM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25272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645920"/>
            <a:ext cx="36484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on features[-1][0], the final 1280-channel layer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Gradient-weighted channel importance, then ReLU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colormap blended at α = 0.45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25272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645920"/>
            <a:ext cx="36484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Lesion-focused map: accept the result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Background-focused (fingers, glare, bench): re-image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gives an independent cross-check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4290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overlay shows the network’s attention on a leaf, so a user can reject a result that looks right for the wrong reason.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Hyperspectral Reconstruction from RGB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25272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SpectrumTransfer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645920"/>
            <a:ext cx="36484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features [R, G, B, R², G², B²]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PCA components, 401 bands, 380–780 nm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with CIE colour matching and D65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39776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 nm (green peak)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 nm (chlorophyll dip)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 nm (NIR shoulder)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02920" y="324612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Infected tissue: red reflectance rises and the near-infrared plateau collapses. The spectrum is a statistical estimate from RGB, not a measurement.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 Band Analysis Feature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18872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Wavelength-specific analysis: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individual narrow spectral bands to observe variations at specific wavelengths.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subtle changes: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visualises minor variations that are hard to distinguish in normal images.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data analysis: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wavelength-specific information to compare leaf regions.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health assessment: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visual and spectral information to support investigation of disease-related changes.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interpretation: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deep-learning prediction and Grad-CAM with another perspective.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26974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08192" y="120700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in the app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08192" y="1600200"/>
            <a:ext cx="23682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1: 400–450 nm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2: 500–550 nm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3: 600–650 nm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4: 700–750 nm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bands: 400–750 nm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control 1.0x to 8.0x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931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detailed view of leaf characteristics by examining wavelength-specific information beyond the three colour channels of a standard RGB image.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and Benchmarks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99.18%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 accuracy, N = 610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98.42%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accuracy, N = 2,724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99.13%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 macro-F1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1887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98.28%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macro-F1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0604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91440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(batch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+ Grad-CAM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CUDA 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 + 4.2 = 15.6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 GB VRAM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CPU (Intel i7)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 + 15.8 = 58.4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 MB 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124.8 + 36.5 = 161.3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3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 MB 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Application: Disease Prediction with Grad-CAM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gui_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64713"/>
            <a:ext cx="5394960" cy="30312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80760" y="114300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45352" y="125272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45352" y="1645920"/>
            <a:ext cx="223113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image and Grad-CAM overlay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box with spectral profile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 and confidence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Prevention, remedies, tips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control and Excel export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Support: Hindi Interface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gui_h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64713"/>
            <a:ext cx="5394960" cy="30312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80760" y="114300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45352" y="125272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switch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45352" y="1645920"/>
            <a:ext cx="223113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Hindi, Marathi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names and remedies in the chosen language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Narrow-band view (Band 2, 500–550 nm) beside the original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and Field Demonstration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7" name="Image 0" descr="t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45870"/>
            <a:ext cx="3931920" cy="2948940"/>
          </a:xfrm>
          <a:prstGeom prst="rect">
            <a:avLst/>
          </a:prstGeom>
        </p:spPr>
      </p:pic>
      <p:pic>
        <p:nvPicPr>
          <p:cNvPr id="8" name="Image 1" descr="dem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54430"/>
            <a:ext cx="4023360" cy="22631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17720" y="35661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on a 7-inch touch display, shown during a live demonstration.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Advisory and Excel Export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25272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 advisory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645920"/>
            <a:ext cx="3648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 and MPKV terminology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Organic: Bordeaux mixture 1%, Trichoderma viride, NSKE 5%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Chemical: Mancozeb, Difenoconazole, Copper Oxychloride, Metalaxyl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and management tips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25272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(3 sheets)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645920"/>
            <a:ext cx="3648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Intensity Data: wavelength 380–780 nm per ROI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Summary: disease, confidence, ROI area, reflectance, date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Graph: embedded spectral curve image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Future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22960" cy="45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PlantDiseaseAI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25272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645920"/>
            <a:ext cx="3648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Accurate: 99.18% grape, 98.42% tomato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Explainable: Grad-CAM plus spectral view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6.2 FPS on Raspberry Pi 5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Accessible: three languages, Excel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5D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25272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645920"/>
            <a:ext cx="3648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multispectral imaging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quantisation and NPU acceleration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field deployment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5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Field-image training and spectrometer validation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Disease Detection Using Hyperspectral Imaging</dc:title>
  <dc:subject>PptxGenJS Presentation</dc:subject>
  <dc:creator>PptxGenJS</dc:creator>
  <cp:lastModifiedBy>PptxGenJS</cp:lastModifiedBy>
  <cp:revision>1</cp:revision>
  <dcterms:created xsi:type="dcterms:W3CDTF">2026-10-15T08:01:20Z</dcterms:created>
  <dcterms:modified xsi:type="dcterms:W3CDTF">2026-10-15T08:01:20Z</dcterms:modified>
</cp:coreProperties>
</file>